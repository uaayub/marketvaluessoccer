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6" r:id="rId1"/>
  </p:sldMasterIdLst>
  <p:sldIdLst>
    <p:sldId id="256" r:id="rId2"/>
    <p:sldId id="258" r:id="rId3"/>
    <p:sldId id="266" r:id="rId4"/>
    <p:sldId id="260" r:id="rId5"/>
    <p:sldId id="261" r:id="rId6"/>
    <p:sldId id="264" r:id="rId7"/>
    <p:sldId id="267" r:id="rId8"/>
    <p:sldId id="259" r:id="rId9"/>
    <p:sldId id="265" r:id="rId10"/>
    <p:sldId id="268" r:id="rId11"/>
    <p:sldId id="269" r:id="rId12"/>
    <p:sldId id="262" r:id="rId13"/>
    <p:sldId id="263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271"/>
    <p:restoredTop sz="94658"/>
  </p:normalViewPr>
  <p:slideViewPr>
    <p:cSldViewPr snapToGrid="0">
      <p:cViewPr varScale="1">
        <p:scale>
          <a:sx n="93" d="100"/>
          <a:sy n="93" d="100"/>
        </p:scale>
        <p:origin x="232" y="7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4/23/26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4/23/26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4/23/26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4/23/26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4/23/26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4/23/26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4/23/26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4/23/26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4/23/26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4/23/26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4/23/26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dirty="0"/>
              <a:t>4/23/26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EAB61-AA5C-D6AE-0FEC-E55D0BBFA51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Predicting Player Values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8C6E7A-44EA-7CB5-C788-3A75F9F815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Umer Ayub</a:t>
            </a:r>
          </a:p>
        </p:txBody>
      </p:sp>
    </p:spTree>
    <p:extLst>
      <p:ext uri="{BB962C8B-B14F-4D97-AF65-F5344CB8AC3E}">
        <p14:creationId xmlns:p14="http://schemas.microsoft.com/office/powerpoint/2010/main" val="9684471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3283B-0949-21AE-EFA5-86E682446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does it matter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F68309-495D-6230-B580-E74ECB72F73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Players in soccer are bought and sold going up to tens of millions of dollars.</a:t>
            </a:r>
          </a:p>
          <a:p>
            <a:endParaRPr lang="en-US" dirty="0"/>
          </a:p>
          <a:p>
            <a:r>
              <a:rPr lang="en-US" dirty="0"/>
              <a:t>Spending the wrong amount on players leads to clubs creating debt and teams with years of history disappearing in obscurity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C071CB-9D92-D800-8CCE-F622EA2726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710705"/>
            <a:ext cx="6092601" cy="5403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5861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8577D-3184-7B4E-833D-29474C730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00C556-FFBE-EB5D-D89C-03C36114013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Trying to predict the market value of a soccer player at the current point of their career</a:t>
            </a:r>
          </a:p>
          <a:p>
            <a:endParaRPr lang="en-US" dirty="0"/>
          </a:p>
          <a:p>
            <a:r>
              <a:rPr lang="en-US" dirty="0"/>
              <a:t>Transfermarkt has their own values which are not possible to replicate as they use features which are not possible to use in this dataset (injury history, current form, nationality)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5061AC-F5CB-7A22-B876-CF085A1F7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055078"/>
            <a:ext cx="5960012" cy="4448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9101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1660E788-AFA9-4A1B-9991-6AA74632A1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3AF9117-AA06-C72C-77F1-8C6C011C45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" b="10532"/>
          <a:stretch>
            <a:fillRect/>
          </a:stretch>
        </p:blipFill>
        <p:spPr>
          <a:xfrm>
            <a:off x="4649234" y="10"/>
            <a:ext cx="3775438" cy="2634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2D030D-37F3-9D3E-3F48-CA4731C67DB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1" b="9123"/>
          <a:stretch>
            <a:fillRect/>
          </a:stretch>
        </p:blipFill>
        <p:spPr>
          <a:xfrm>
            <a:off x="5297764" y="2883425"/>
            <a:ext cx="6116676" cy="3418518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867D4867-5BA7-4462-B2F6-A23F4A622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54296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4668ED-09FE-16DA-5230-BE43B90F6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643467"/>
            <a:ext cx="3363974" cy="1728044"/>
          </a:xfrm>
          <a:noFill/>
          <a:ln>
            <a:solidFill>
              <a:schemeClr val="bg1"/>
            </a:solidFill>
          </a:ln>
        </p:spPr>
        <p:txBody>
          <a:bodyPr vert="horz" wrap="square" lIns="182880" tIns="182880" rIns="182880" bIns="182880" rtlCol="0" anchor="ctr">
            <a:normAutofit/>
          </a:bodyPr>
          <a:lstStyle/>
          <a:p>
            <a:r>
              <a:rPr lang="en-US" sz="2800">
                <a:solidFill>
                  <a:schemeClr val="bg1"/>
                </a:solidFill>
              </a:rPr>
              <a:t>Dataset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00BB37-58C4-7B13-55F9-70E85B88D7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3468" y="2638044"/>
            <a:ext cx="3363974" cy="3415622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This dataset comes from Kaggle with the dataset being from Transfermarkt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3 datasets are being used for this to have the proper features for this project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3 datasets with a total of 45 features originally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06E1C5-B8FF-BEE4-9D10-1214289CB12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2517" r="-2" b="13749"/>
          <a:stretch>
            <a:fillRect/>
          </a:stretch>
        </p:blipFill>
        <p:spPr>
          <a:xfrm>
            <a:off x="8410955" y="-10474"/>
            <a:ext cx="3776472" cy="264528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FFD7FE0-E031-39BB-B624-992D666A0F5A}"/>
              </a:ext>
            </a:extLst>
          </p:cNvPr>
          <p:cNvSpPr txBox="1"/>
          <p:nvPr/>
        </p:nvSpPr>
        <p:spPr>
          <a:xfrm>
            <a:off x="5845898" y="2572919"/>
            <a:ext cx="1382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Appearances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13E850-2CE2-A3A0-B4D5-4901C74006DF}"/>
              </a:ext>
            </a:extLst>
          </p:cNvPr>
          <p:cNvSpPr txBox="1"/>
          <p:nvPr/>
        </p:nvSpPr>
        <p:spPr>
          <a:xfrm>
            <a:off x="9441328" y="2572919"/>
            <a:ext cx="17157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Player Valuations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DCF54B-BD8C-A134-0143-8B40F7C03B37}"/>
              </a:ext>
            </a:extLst>
          </p:cNvPr>
          <p:cNvSpPr txBox="1"/>
          <p:nvPr/>
        </p:nvSpPr>
        <p:spPr>
          <a:xfrm>
            <a:off x="8010648" y="6365892"/>
            <a:ext cx="828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Players</a:t>
            </a:r>
          </a:p>
        </p:txBody>
      </p:sp>
    </p:spTree>
    <p:extLst>
      <p:ext uri="{BB962C8B-B14F-4D97-AF65-F5344CB8AC3E}">
        <p14:creationId xmlns:p14="http://schemas.microsoft.com/office/powerpoint/2010/main" val="37552756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8094B-B35C-1A34-F8EF-B3874923E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Engineering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FF47E4-4893-256B-9F64-10CF477B2E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dirty="0"/>
              <a:t>Features</a:t>
            </a:r>
          </a:p>
          <a:p>
            <a:r>
              <a:rPr lang="en-US" dirty="0"/>
              <a:t>Position</a:t>
            </a:r>
          </a:p>
          <a:p>
            <a:r>
              <a:rPr lang="en-US" dirty="0"/>
              <a:t>Sub Position</a:t>
            </a:r>
          </a:p>
          <a:p>
            <a:r>
              <a:rPr lang="en-US" dirty="0"/>
              <a:t>Foot</a:t>
            </a:r>
          </a:p>
          <a:p>
            <a:r>
              <a:rPr lang="en-US" dirty="0"/>
              <a:t>Height in cm</a:t>
            </a:r>
          </a:p>
          <a:p>
            <a:r>
              <a:rPr lang="en-US" dirty="0"/>
              <a:t>Age</a:t>
            </a:r>
          </a:p>
          <a:p>
            <a:r>
              <a:rPr lang="en-US" dirty="0"/>
              <a:t>Current Domestic Competition</a:t>
            </a:r>
          </a:p>
          <a:p>
            <a:r>
              <a:rPr lang="en-US" dirty="0"/>
              <a:t>Goals per Game</a:t>
            </a:r>
          </a:p>
          <a:p>
            <a:r>
              <a:rPr lang="en-US" dirty="0"/>
              <a:t>Assists per Game</a:t>
            </a:r>
          </a:p>
          <a:p>
            <a:r>
              <a:rPr lang="en-US" dirty="0"/>
              <a:t>Minutes per Game</a:t>
            </a:r>
          </a:p>
          <a:p>
            <a:r>
              <a:rPr lang="en-US" dirty="0"/>
              <a:t>Yellow cards per Game</a:t>
            </a:r>
          </a:p>
          <a:p>
            <a:r>
              <a:rPr lang="en-US" dirty="0"/>
              <a:t>Total Appearances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93C6A5-BFA3-01ED-06F4-3BF126E3896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Combined all datasets into one main dataset</a:t>
            </a:r>
          </a:p>
          <a:p>
            <a:r>
              <a:rPr lang="en-US" dirty="0"/>
              <a:t>One Hot Encoding for all categorical values</a:t>
            </a:r>
          </a:p>
          <a:p>
            <a:r>
              <a:rPr lang="en-US" dirty="0"/>
              <a:t>Condensed the features into 11 features to predict market value</a:t>
            </a:r>
          </a:p>
        </p:txBody>
      </p:sp>
    </p:spTree>
    <p:extLst>
      <p:ext uri="{BB962C8B-B14F-4D97-AF65-F5344CB8AC3E}">
        <p14:creationId xmlns:p14="http://schemas.microsoft.com/office/powerpoint/2010/main" val="21994899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26AEC-D8A1-E8D9-994B-9814FE03D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Completed Dataset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298C1A-F4D6-D747-FE62-7B9C2DC838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153412"/>
            <a:ext cx="7772400" cy="4504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01693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3E6B7-E4D6-8E52-83AF-1DA58D7BC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Skewness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DC208E-2C97-6685-C48D-90B63AB8AD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234" y="2428086"/>
            <a:ext cx="5475766" cy="41068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302DF7D-239C-E4D7-DB6E-3251361B4D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2428086"/>
            <a:ext cx="5475766" cy="410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50917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C3C95-044A-1504-C0AC-95662A05C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338B8-D0A0-EDEF-570B-411CA3AAC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4516" y="3153597"/>
            <a:ext cx="2753240" cy="3101983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Baseline Model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Predicts the mean market value for all players (benchmark for future comparisons)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81CE78-FAE6-853E-7DFE-189789B23BC3}"/>
              </a:ext>
            </a:extLst>
          </p:cNvPr>
          <p:cNvSpPr txBox="1"/>
          <p:nvPr/>
        </p:nvSpPr>
        <p:spPr>
          <a:xfrm>
            <a:off x="4719380" y="3153597"/>
            <a:ext cx="27532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Linear Regression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This model is used to assume the features being used have a linear relationship to try and predict the market value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1F9A1D-4D97-27FE-9B37-4F3CA31B190E}"/>
              </a:ext>
            </a:extLst>
          </p:cNvPr>
          <p:cNvSpPr txBox="1"/>
          <p:nvPr/>
        </p:nvSpPr>
        <p:spPr>
          <a:xfrm>
            <a:off x="8584244" y="3153597"/>
            <a:ext cx="275324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Decision Tree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Captures nonlinear relationships between player features and market value and can model complex interactions between variables</a:t>
            </a:r>
            <a:br>
              <a:rPr lang="en-US" dirty="0"/>
            </a:br>
            <a:r>
              <a:rPr lang="en-US" dirty="0"/>
              <a:t>Being used for nonlinear assumptions</a:t>
            </a:r>
          </a:p>
        </p:txBody>
      </p:sp>
    </p:spTree>
    <p:extLst>
      <p:ext uri="{BB962C8B-B14F-4D97-AF65-F5344CB8AC3E}">
        <p14:creationId xmlns:p14="http://schemas.microsoft.com/office/powerpoint/2010/main" val="629720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CAACC-AAD1-EB24-7298-4B8D5FA44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metrics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D12AC-FF17-A1B3-1677-290D40277F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960114" y="2648677"/>
            <a:ext cx="4271771" cy="3101982"/>
          </a:xfrm>
        </p:spPr>
        <p:txBody>
          <a:bodyPr/>
          <a:lstStyle/>
          <a:p>
            <a:r>
              <a:rPr lang="en-US" sz="2800" dirty="0"/>
              <a:t>Mean Squared Error</a:t>
            </a:r>
          </a:p>
          <a:p>
            <a:r>
              <a:rPr lang="en-US" sz="2800" dirty="0"/>
              <a:t>Root Mean Squared Error</a:t>
            </a:r>
          </a:p>
          <a:p>
            <a:r>
              <a:rPr lang="en-US" sz="2800" dirty="0"/>
              <a:t>Mean Absolute Error</a:t>
            </a:r>
          </a:p>
          <a:p>
            <a:r>
              <a:rPr lang="en-US" sz="2800" dirty="0"/>
              <a:t>R</a:t>
            </a:r>
            <a:r>
              <a:rPr lang="en-US" sz="2800" baseline="30000" dirty="0"/>
              <a:t>2</a:t>
            </a:r>
            <a:r>
              <a:rPr lang="en-US" sz="2800" dirty="0"/>
              <a:t> Score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240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33B4F-9877-83F1-B8C9-8D6B98538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1554402"/>
            <a:ext cx="3864864" cy="1188720"/>
          </a:xfrm>
        </p:spPr>
        <p:txBody>
          <a:bodyPr/>
          <a:lstStyle/>
          <a:p>
            <a:r>
              <a:rPr lang="en-US" dirty="0"/>
              <a:t>Baseline Model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38984E7-EDB3-71BC-DD5B-BF9D88F990A3}"/>
              </a:ext>
            </a:extLst>
          </p:cNvPr>
          <p:cNvSpPr txBox="1">
            <a:spLocks/>
          </p:cNvSpPr>
          <p:nvPr/>
        </p:nvSpPr>
        <p:spPr bwMode="black">
          <a:xfrm>
            <a:off x="4163568" y="1554402"/>
            <a:ext cx="3864864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Linear Regression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6638588-1A99-C4EB-2A08-8A99F996C222}"/>
              </a:ext>
            </a:extLst>
          </p:cNvPr>
          <p:cNvSpPr txBox="1">
            <a:spLocks/>
          </p:cNvSpPr>
          <p:nvPr/>
        </p:nvSpPr>
        <p:spPr bwMode="black">
          <a:xfrm>
            <a:off x="8174736" y="1554402"/>
            <a:ext cx="3864864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Decision Tree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239A7A-33FE-0B6E-FF24-7ACFA6644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24" y="3429000"/>
            <a:ext cx="3448492" cy="14303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97528A3-CEB0-50B0-8997-7A6C1DE8C0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6142" y="3432511"/>
            <a:ext cx="3679716" cy="142682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111E89E-A24F-3326-5521-FC8158F906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992" y="3401465"/>
            <a:ext cx="3576084" cy="1426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49789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BF52F-4ABD-96BE-227C-F901F3E1B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0" y="4269282"/>
            <a:ext cx="8991600" cy="1264762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sz="3200"/>
              <a:t>Graphs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F974576-6F9E-4B11-8273-A9F0AE188A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47032" y="640555"/>
            <a:ext cx="9498768" cy="3312058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FECC3EF-DDFD-4B14-B98F-B6E7328109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10700" y="806112"/>
            <a:ext cx="9171432" cy="2980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D7467A3-12D2-7C88-5B49-DD6C97F936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8610" y="1293108"/>
            <a:ext cx="2632773" cy="198116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00FB405-E278-DE7A-D04D-3B145055EE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15" y="1302979"/>
            <a:ext cx="2632777" cy="196141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2D6B67C-2CC4-DF81-EE5F-A46816FA9C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7622" y="1312853"/>
            <a:ext cx="2632777" cy="1941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9659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9F71C-6E14-327E-49DC-2DDD3B3C1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42FE87-03C0-CFB9-CB5D-5189616B1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for accuracy of the models compared to the baseline model</a:t>
            </a:r>
          </a:p>
          <a:p>
            <a:r>
              <a:rPr lang="en-US" dirty="0"/>
              <a:t>Test all 3 models after adjusting for skewness (massive outliers in dataset)</a:t>
            </a:r>
          </a:p>
          <a:p>
            <a:r>
              <a:rPr lang="en-US" dirty="0"/>
              <a:t>Log transforming the data</a:t>
            </a:r>
          </a:p>
          <a:p>
            <a:r>
              <a:rPr lang="en-US" dirty="0"/>
              <a:t>Adding more features to improve the scores overall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31208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141B7-AA3E-1139-FB43-816D6EAD4BE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End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4AFE92-D14E-18AA-573F-0B64154CC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1889150843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393</TotalTime>
  <Words>322</Words>
  <Application>Microsoft Macintosh PowerPoint</Application>
  <PresentationFormat>Widescreen</PresentationFormat>
  <Paragraphs>64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Gill Sans MT</vt:lpstr>
      <vt:lpstr>Parcel</vt:lpstr>
      <vt:lpstr>Predicting Player Values</vt:lpstr>
      <vt:lpstr>Why does it matter</vt:lpstr>
      <vt:lpstr>Problem</vt:lpstr>
      <vt:lpstr>Dataset</vt:lpstr>
      <vt:lpstr>Feature Engineering </vt:lpstr>
      <vt:lpstr>Completed Dataset</vt:lpstr>
      <vt:lpstr>Data Skewness</vt:lpstr>
      <vt:lpstr>Models</vt:lpstr>
      <vt:lpstr>Evaluation metrics</vt:lpstr>
      <vt:lpstr>Baseline Model</vt:lpstr>
      <vt:lpstr>Graphs</vt:lpstr>
      <vt:lpstr>Next Steps</vt:lpstr>
      <vt:lpstr>The 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Ayub, Umer</dc:creator>
  <cp:lastModifiedBy>Ayub, Umer</cp:lastModifiedBy>
  <cp:revision>6</cp:revision>
  <dcterms:created xsi:type="dcterms:W3CDTF">2026-04-16T00:38:10Z</dcterms:created>
  <dcterms:modified xsi:type="dcterms:W3CDTF">2026-04-23T17:38:21Z</dcterms:modified>
</cp:coreProperties>
</file>