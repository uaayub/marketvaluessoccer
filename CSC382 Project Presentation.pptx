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8" r:id="rId3"/>
    <p:sldId id="266" r:id="rId4"/>
    <p:sldId id="260" r:id="rId5"/>
    <p:sldId id="261" r:id="rId6"/>
    <p:sldId id="264" r:id="rId7"/>
    <p:sldId id="259" r:id="rId8"/>
    <p:sldId id="265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08"/>
    <p:restoredTop sz="94658"/>
  </p:normalViewPr>
  <p:slideViewPr>
    <p:cSldViewPr snapToGrid="0">
      <p:cViewPr varScale="1">
        <p:scale>
          <a:sx n="120" d="100"/>
          <a:sy n="120" d="100"/>
        </p:scale>
        <p:origin x="2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4/16/26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EAB61-AA5C-D6AE-0FEC-E55D0BBFA51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Predicting Player Values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8C6E7A-44EA-7CB5-C788-3A75F9F81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Umer Ayub</a:t>
            </a:r>
          </a:p>
        </p:txBody>
      </p:sp>
    </p:spTree>
    <p:extLst>
      <p:ext uri="{BB962C8B-B14F-4D97-AF65-F5344CB8AC3E}">
        <p14:creationId xmlns:p14="http://schemas.microsoft.com/office/powerpoint/2010/main" val="968447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3283B-0949-21AE-EFA5-86E682446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does it matter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68309-495D-6230-B580-E74ECB72F73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Players in soccer are bought and sold going up to tens of millions of dollars.</a:t>
            </a:r>
          </a:p>
          <a:p>
            <a:endParaRPr lang="en-US" dirty="0"/>
          </a:p>
          <a:p>
            <a:r>
              <a:rPr lang="en-US" dirty="0"/>
              <a:t>Spending the wrong amount on players leads to clubs creating debt and teams with years of history disappearing in obscurity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C071CB-9D92-D800-8CCE-F622EA272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710705"/>
            <a:ext cx="6092601" cy="540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586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8577D-3184-7B4E-833D-29474C730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E00C556-FFBE-EB5D-D89C-03C36114013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Trying to predict the market value of a soccer player at the current point of their career</a:t>
            </a:r>
          </a:p>
          <a:p>
            <a:endParaRPr lang="en-US" dirty="0"/>
          </a:p>
          <a:p>
            <a:r>
              <a:rPr lang="en-US" dirty="0"/>
              <a:t>Transfermarkt has their own values which are not possible to replicate as they use features which are not possible to use in this dataset (injury history, current form, nationality)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5061AC-F5CB-7A22-B876-CF085A1F7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55078"/>
            <a:ext cx="5960012" cy="4448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9101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1660E788-AFA9-4A1B-9991-6AA74632A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3AF9117-AA06-C72C-77F1-8C6C011C45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" b="10532"/>
          <a:stretch>
            <a:fillRect/>
          </a:stretch>
        </p:blipFill>
        <p:spPr>
          <a:xfrm>
            <a:off x="4649234" y="10"/>
            <a:ext cx="3775438" cy="2634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2D030D-37F3-9D3E-3F48-CA4731C67D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-1" b="9123"/>
          <a:stretch>
            <a:fillRect/>
          </a:stretch>
        </p:blipFill>
        <p:spPr>
          <a:xfrm>
            <a:off x="5297764" y="2883425"/>
            <a:ext cx="6116676" cy="3418518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867D4867-5BA7-4462-B2F6-A23F4A622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65429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4668ED-09FE-16DA-5230-BE43B90F6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643467"/>
            <a:ext cx="3363974" cy="1728044"/>
          </a:xfrm>
          <a:noFill/>
          <a:ln>
            <a:solidFill>
              <a:schemeClr val="bg1"/>
            </a:solidFill>
          </a:ln>
        </p:spPr>
        <p:txBody>
          <a:bodyPr vert="horz" wrap="square" lIns="182880" tIns="182880" rIns="182880" bIns="182880" rtlCol="0" anchor="ctr">
            <a:normAutofit/>
          </a:bodyPr>
          <a:lstStyle/>
          <a:p>
            <a:r>
              <a:rPr lang="en-US" sz="2800">
                <a:solidFill>
                  <a:schemeClr val="bg1"/>
                </a:solidFill>
              </a:rPr>
              <a:t>Dataset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00BB37-58C4-7B13-55F9-70E85B88D7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8" y="2638044"/>
            <a:ext cx="3363974" cy="341562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This dataset comes from Kaggle with the dataset being from Transfermarkt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are being used for this to have the proper features for this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3 datasets with a total of 45 features originally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06E1C5-B8FF-BEE4-9D10-1214289CB1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7" r="-2" b="13749"/>
          <a:stretch>
            <a:fillRect/>
          </a:stretch>
        </p:blipFill>
        <p:spPr>
          <a:xfrm>
            <a:off x="8410955" y="-10474"/>
            <a:ext cx="3776472" cy="264528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FD7FE0-E031-39BB-B624-992D666A0F5A}"/>
              </a:ext>
            </a:extLst>
          </p:cNvPr>
          <p:cNvSpPr txBox="1"/>
          <p:nvPr/>
        </p:nvSpPr>
        <p:spPr>
          <a:xfrm>
            <a:off x="5845898" y="2572919"/>
            <a:ext cx="1382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Appearances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13E850-2CE2-A3A0-B4D5-4901C74006DF}"/>
              </a:ext>
            </a:extLst>
          </p:cNvPr>
          <p:cNvSpPr txBox="1"/>
          <p:nvPr/>
        </p:nvSpPr>
        <p:spPr>
          <a:xfrm>
            <a:off x="9441328" y="2572919"/>
            <a:ext cx="1715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 Valuations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CF54B-BD8C-A134-0143-8B40F7C03B37}"/>
              </a:ext>
            </a:extLst>
          </p:cNvPr>
          <p:cNvSpPr txBox="1"/>
          <p:nvPr/>
        </p:nvSpPr>
        <p:spPr>
          <a:xfrm>
            <a:off x="8010648" y="6365892"/>
            <a:ext cx="8280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Players</a:t>
            </a:r>
          </a:p>
        </p:txBody>
      </p:sp>
    </p:spTree>
    <p:extLst>
      <p:ext uri="{BB962C8B-B14F-4D97-AF65-F5344CB8AC3E}">
        <p14:creationId xmlns:p14="http://schemas.microsoft.com/office/powerpoint/2010/main" val="37552756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8094B-B35C-1A34-F8EF-B3874923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Engineering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F47E4-4893-256B-9F64-10CF477B2E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/>
              <a:t>Features</a:t>
            </a:r>
          </a:p>
          <a:p>
            <a:r>
              <a:rPr lang="en-US" dirty="0"/>
              <a:t>Position</a:t>
            </a:r>
          </a:p>
          <a:p>
            <a:r>
              <a:rPr lang="en-US" dirty="0"/>
              <a:t>Sub Position</a:t>
            </a:r>
          </a:p>
          <a:p>
            <a:r>
              <a:rPr lang="en-US" dirty="0"/>
              <a:t>Foot</a:t>
            </a:r>
          </a:p>
          <a:p>
            <a:r>
              <a:rPr lang="en-US" dirty="0"/>
              <a:t>Height in cm</a:t>
            </a:r>
          </a:p>
          <a:p>
            <a:r>
              <a:rPr lang="en-US" dirty="0"/>
              <a:t>Age</a:t>
            </a:r>
          </a:p>
          <a:p>
            <a:r>
              <a:rPr lang="en-US" dirty="0"/>
              <a:t>Current Domestic Competition</a:t>
            </a:r>
          </a:p>
          <a:p>
            <a:r>
              <a:rPr lang="en-US" dirty="0"/>
              <a:t>Goals per Game</a:t>
            </a:r>
          </a:p>
          <a:p>
            <a:r>
              <a:rPr lang="en-US" dirty="0"/>
              <a:t>Assists per Game</a:t>
            </a:r>
          </a:p>
          <a:p>
            <a:r>
              <a:rPr lang="en-US" dirty="0"/>
              <a:t>Minutes per Game</a:t>
            </a:r>
          </a:p>
          <a:p>
            <a:r>
              <a:rPr lang="en-US" dirty="0"/>
              <a:t>Yellow cards per Game</a:t>
            </a:r>
          </a:p>
          <a:p>
            <a:r>
              <a:rPr lang="en-US" dirty="0"/>
              <a:t>Total Appearances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3C6A5-BFA3-01ED-06F4-3BF126E3896E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Combined all datasets into one main dataset</a:t>
            </a:r>
          </a:p>
          <a:p>
            <a:r>
              <a:rPr lang="en-US" dirty="0"/>
              <a:t>One Hot Encoding for all categorical values</a:t>
            </a:r>
          </a:p>
          <a:p>
            <a:r>
              <a:rPr lang="en-US" dirty="0"/>
              <a:t>Condensed the features into 11 features to predict market value</a:t>
            </a:r>
          </a:p>
        </p:txBody>
      </p:sp>
    </p:spTree>
    <p:extLst>
      <p:ext uri="{BB962C8B-B14F-4D97-AF65-F5344CB8AC3E}">
        <p14:creationId xmlns:p14="http://schemas.microsoft.com/office/powerpoint/2010/main" val="2199489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26AEC-D8A1-E8D9-994B-9814FE03D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Completed Dataset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98C1A-F4D6-D747-FE62-7B9C2DC838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153412"/>
            <a:ext cx="7772400" cy="4504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169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C3C95-044A-1504-C0AC-95662A05C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338B8-D0A0-EDEF-570B-411CA3AA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16" y="3153597"/>
            <a:ext cx="2753240" cy="3101983"/>
          </a:xfrm>
        </p:spPr>
        <p:txBody>
          <a:bodyPr/>
          <a:lstStyle/>
          <a:p>
            <a:pPr marL="0" indent="0" algn="ctr">
              <a:buNone/>
            </a:pPr>
            <a:r>
              <a:rPr lang="en-US" dirty="0"/>
              <a:t>Baseline Model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/>
              <a:t>Predicts the mean market value for all players (benchmark for future comparisons)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81CE78-FAE6-853E-7DFE-189789B23BC3}"/>
              </a:ext>
            </a:extLst>
          </p:cNvPr>
          <p:cNvSpPr txBox="1"/>
          <p:nvPr/>
        </p:nvSpPr>
        <p:spPr>
          <a:xfrm>
            <a:off x="4719380" y="3153597"/>
            <a:ext cx="275324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Linear Regression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This model is used to assume the features being used have a linear relationship to try and predict the market 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1F9A1D-4D97-27FE-9B37-4F3CA31B190E}"/>
              </a:ext>
            </a:extLst>
          </p:cNvPr>
          <p:cNvSpPr txBox="1"/>
          <p:nvPr/>
        </p:nvSpPr>
        <p:spPr>
          <a:xfrm>
            <a:off x="8584244" y="3153597"/>
            <a:ext cx="275324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Decision Tree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r>
              <a:rPr lang="en-US" dirty="0"/>
              <a:t>Captures nonlinear relationships between player features and market value and can model complex interactions between variables</a:t>
            </a:r>
            <a:br>
              <a:rPr lang="en-US" dirty="0"/>
            </a:br>
            <a:r>
              <a:rPr lang="en-US" dirty="0"/>
              <a:t>Being used for nonlinear assumptions</a:t>
            </a:r>
          </a:p>
        </p:txBody>
      </p:sp>
    </p:spTree>
    <p:extLst>
      <p:ext uri="{BB962C8B-B14F-4D97-AF65-F5344CB8AC3E}">
        <p14:creationId xmlns:p14="http://schemas.microsoft.com/office/powerpoint/2010/main" val="6297209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CAACC-AAD1-EB24-7298-4B8D5FA44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12AC-FF17-A1B3-1677-290D40277F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800" dirty="0"/>
              <a:t>Mean Squared Error</a:t>
            </a:r>
          </a:p>
          <a:p>
            <a:r>
              <a:rPr lang="en-US" sz="2800" dirty="0"/>
              <a:t>Root Mean Squared Error</a:t>
            </a:r>
          </a:p>
          <a:p>
            <a:r>
              <a:rPr lang="en-US" sz="2800" dirty="0"/>
              <a:t>R</a:t>
            </a:r>
            <a:r>
              <a:rPr lang="en-US" sz="2800" baseline="30000" dirty="0"/>
              <a:t>2</a:t>
            </a:r>
            <a:r>
              <a:rPr lang="en-US" sz="2800" dirty="0"/>
              <a:t> Score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0C930D-AA05-B4CC-D10E-00517B8D4BD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/>
              <a:t>Baseline Model Metrics</a:t>
            </a:r>
          </a:p>
          <a:p>
            <a:pPr marL="0" indent="0" algn="ctr">
              <a:buNone/>
            </a:pPr>
            <a:r>
              <a:rPr lang="en-US" dirty="0"/>
              <a:t>Mean Value: $2,012,081</a:t>
            </a:r>
          </a:p>
          <a:p>
            <a:pPr marL="0" indent="0" algn="ctr">
              <a:buNone/>
            </a:pPr>
            <a:r>
              <a:rPr lang="en-US" dirty="0"/>
              <a:t>MSE: $59052972352271.73</a:t>
            </a:r>
          </a:p>
          <a:p>
            <a:pPr marL="0" indent="0" algn="ctr">
              <a:buNone/>
            </a:pPr>
            <a:r>
              <a:rPr lang="en-US" dirty="0"/>
              <a:t>RMSE: $7,684,593.18</a:t>
            </a:r>
          </a:p>
          <a:p>
            <a:pPr marL="0" indent="0" algn="ctr">
              <a:buNone/>
            </a:pPr>
            <a:r>
              <a:rPr lang="en-US" dirty="0"/>
              <a:t>R</a:t>
            </a:r>
            <a:r>
              <a:rPr lang="en-US" baseline="30000" dirty="0"/>
              <a:t>2</a:t>
            </a:r>
            <a:r>
              <a:rPr lang="en-US" dirty="0"/>
              <a:t>: 0.0000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193682-49B4-161D-B237-0C85D3966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6422" y="5088632"/>
            <a:ext cx="4270247" cy="130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24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9F71C-6E14-327E-49DC-2DDD3B3C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2FE87-03C0-CFB9-CB5D-5189616B1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Finish the remaining models</a:t>
            </a:r>
          </a:p>
          <a:p>
            <a:r>
              <a:rPr lang="en-US" dirty="0"/>
              <a:t>Test all 3 models after adjusting for skewness (massive outliers in dataset)</a:t>
            </a:r>
          </a:p>
          <a:p>
            <a:r>
              <a:rPr lang="en-US" dirty="0"/>
              <a:t>Adding more features to improve the accuracy score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3120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141B7-AA3E-1139-FB43-816D6EAD4BE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4AFE92-D14E-18AA-573F-0B64154CC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889150843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89</TotalTime>
  <Words>318</Words>
  <Application>Microsoft Macintosh PowerPoint</Application>
  <PresentationFormat>Widescreen</PresentationFormat>
  <Paragraphs>62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Gill Sans MT</vt:lpstr>
      <vt:lpstr>Parcel</vt:lpstr>
      <vt:lpstr>Predicting Player Values</vt:lpstr>
      <vt:lpstr>Why does it matter</vt:lpstr>
      <vt:lpstr>Problem</vt:lpstr>
      <vt:lpstr>Dataset</vt:lpstr>
      <vt:lpstr>Feature Engineering </vt:lpstr>
      <vt:lpstr>Completed Dataset</vt:lpstr>
      <vt:lpstr>Models</vt:lpstr>
      <vt:lpstr>Evaluation metrics</vt:lpstr>
      <vt:lpstr>Next Steps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Ayub, Umer</dc:creator>
  <cp:lastModifiedBy>Ayub, Umer</cp:lastModifiedBy>
  <cp:revision>3</cp:revision>
  <dcterms:created xsi:type="dcterms:W3CDTF">2026-04-16T00:38:10Z</dcterms:created>
  <dcterms:modified xsi:type="dcterms:W3CDTF">2026-04-16T13:34:16Z</dcterms:modified>
</cp:coreProperties>
</file>